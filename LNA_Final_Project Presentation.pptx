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0" r:id="rId17"/>
    <p:sldId id="271" r:id="rId18"/>
    <p:sldId id="272" r:id="rId19"/>
    <p:sldId id="279" r:id="rId20"/>
    <p:sldId id="273" r:id="rId21"/>
    <p:sldId id="274" r:id="rId22"/>
    <p:sldId id="275" r:id="rId23"/>
    <p:sldId id="276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530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B5A7-25A8-395E-07A4-E4750AE2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46F6F-E15D-777F-0554-EAC8F8F4F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786E1-0F39-260E-5447-58A8CB47A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98C5A-3755-8CBC-CE9A-734FC002B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98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F7941-203E-9639-E121-501DAD51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A4BEA-689D-2CD4-B695-DBF2F3C84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56442-88D0-4311-01A7-33DD57440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C913F-904F-5BE9-CCFC-8B96354148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971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1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4900" y="1628248"/>
            <a:ext cx="6400800" cy="1349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lang="en-US" sz="160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Design  and Realization of a Miniaturized High-Gain LNA for S-Band RF Communication Applications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70516" y="202749"/>
            <a:ext cx="2702940" cy="1004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2"/>
              </a:lnSpc>
            </a:pPr>
            <a:r>
              <a:rPr lang="en-US" sz="175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A </a:t>
            </a:r>
          </a:p>
          <a:p>
            <a:pPr algn="ctr">
              <a:lnSpc>
                <a:spcPts val="2712"/>
              </a:lnSpc>
            </a:pPr>
            <a:r>
              <a:rPr lang="en-US" sz="175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 Final Project  Presentation</a:t>
            </a:r>
          </a:p>
          <a:p>
            <a:pPr algn="ctr">
              <a:lnSpc>
                <a:spcPts val="2712"/>
              </a:lnSpc>
            </a:pPr>
            <a:r>
              <a:rPr lang="en-US" sz="175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92624" y="1628248"/>
            <a:ext cx="1558752" cy="721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Minor project</a:t>
            </a:r>
          </a:p>
          <a:p>
            <a:pPr algn="ctr">
              <a:lnSpc>
                <a:spcPts val="2975"/>
              </a:lnSpc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876" y="3120729"/>
            <a:ext cx="2903220" cy="1519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</a:p>
          <a:p>
            <a:pPr>
              <a:lnSpc>
                <a:spcPts val="2025"/>
              </a:lnSpc>
            </a:pPr>
            <a:endParaRPr lang="en-US"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ts val="2025"/>
              </a:lnSpc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Dr Abhay Chaturvedi</a:t>
            </a:r>
          </a:p>
          <a:p>
            <a:pPr>
              <a:lnSpc>
                <a:spcPts val="2025"/>
              </a:lnSpc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Associate Professor,</a:t>
            </a:r>
          </a:p>
          <a:p>
            <a:pPr>
              <a:lnSpc>
                <a:spcPts val="2025"/>
              </a:lnSpc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Department of ECE,</a:t>
            </a:r>
          </a:p>
          <a:p>
            <a:pPr>
              <a:lnSpc>
                <a:spcPts val="2025"/>
              </a:lnSpc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GLA University, Mathura, India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40780" y="3135886"/>
            <a:ext cx="2903220" cy="1263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25"/>
              </a:lnSpc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</a:p>
          <a:p>
            <a:pPr algn="just">
              <a:lnSpc>
                <a:spcPts val="2025"/>
              </a:lnSpc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Digambar Singh (2313200005)</a:t>
            </a:r>
          </a:p>
          <a:p>
            <a:pPr>
              <a:lnSpc>
                <a:spcPts val="2025"/>
              </a:lnSpc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Kuldeep (2313200011)</a:t>
            </a:r>
          </a:p>
          <a:p>
            <a:pPr algn="just">
              <a:lnSpc>
                <a:spcPts val="2025"/>
              </a:lnSpc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Shyam Baghel (2313200017)</a:t>
            </a:r>
          </a:p>
          <a:p>
            <a:pPr algn="just">
              <a:lnSpc>
                <a:spcPts val="2025"/>
              </a:lnSpc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Harish Chaudhary  (2315000889)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438554" y="3119294"/>
            <a:ext cx="1966854" cy="1419463"/>
            <a:chOff x="0" y="0"/>
            <a:chExt cx="5244941" cy="37852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44973" cy="3785235"/>
            </a:xfrm>
            <a:custGeom>
              <a:avLst/>
              <a:gdLst/>
              <a:ahLst/>
              <a:cxnLst/>
              <a:rect l="l" t="t" r="r" b="b"/>
              <a:pathLst>
                <a:path w="5244973" h="3785235">
                  <a:moveTo>
                    <a:pt x="0" y="0"/>
                  </a:moveTo>
                  <a:lnTo>
                    <a:pt x="5244973" y="0"/>
                  </a:lnTo>
                  <a:lnTo>
                    <a:pt x="5244973" y="3785235"/>
                  </a:lnTo>
                  <a:lnTo>
                    <a:pt x="0" y="378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7" b="-127"/>
              </a:stretch>
            </a:blipFill>
          </p:spPr>
          <p:txBody>
            <a:bodyPr/>
            <a:lstStyle/>
            <a:p>
              <a:endParaRPr lang="en-IN" sz="135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-330042" y="4687766"/>
            <a:ext cx="9804083" cy="43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25">
                <a:latin typeface="Times New Roman"/>
                <a:ea typeface="Times New Roman"/>
                <a:cs typeface="Times New Roman"/>
                <a:sym typeface="Times New Roman"/>
              </a:rPr>
              <a:t>Department of Electronics &amp; Communication Engineering</a:t>
            </a:r>
          </a:p>
          <a:p>
            <a:pPr algn="ctr">
              <a:lnSpc>
                <a:spcPts val="1800"/>
              </a:lnSpc>
            </a:pPr>
            <a:r>
              <a:rPr lang="en-US" sz="1125">
                <a:latin typeface="Times New Roman"/>
                <a:ea typeface="Times New Roman"/>
                <a:cs typeface="Times New Roman"/>
                <a:sym typeface="Times New Roman"/>
              </a:rPr>
              <a:t>Session 2025-26</a:t>
            </a:r>
          </a:p>
        </p:txBody>
      </p:sp>
    </p:spTree>
    <p:extLst>
      <p:ext uri="{BB962C8B-B14F-4D97-AF65-F5344CB8AC3E}">
        <p14:creationId xmlns:p14="http://schemas.microsoft.com/office/powerpoint/2010/main" val="1192312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4572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2860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41148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59436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77724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</a:t>
            </a:r>
            <a:r>
              <a:rPr lang="en-US" sz="26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920240" y="1280160"/>
            <a:ext cx="457200" cy="4572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50592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LNA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50592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Background, motivation &amp; objectives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68112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Parameters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68112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NF, S21, S-parameters, stability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20240" y="2743200"/>
            <a:ext cx="457200" cy="4572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50592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LNA Topologies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50592" y="2999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CS, CG, cascode comparison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743200"/>
            <a:ext cx="457200" cy="4572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68112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Design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68112" y="2999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Circuit, components, equations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20240" y="4206240"/>
            <a:ext cx="457200" cy="4572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450592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Results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50592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&amp; post-layout performance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4206240"/>
            <a:ext cx="457200" cy="4572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68112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68112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Summary, limitations, next steps</a:t>
            </a:r>
            <a:endParaRPr lang="en-US" sz="10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65008" y="1371600"/>
            <a:ext cx="1005840" cy="228600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8092440" y="4846320"/>
            <a:ext cx="164592" cy="164592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30845" y="4846320"/>
            <a:ext cx="164592" cy="164592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169250" y="4846320"/>
            <a:ext cx="164592" cy="164592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91440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493776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94944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896112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2257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518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214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996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257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1518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 rot="2700000">
            <a:off x="91440" y="91440"/>
            <a:ext cx="640080" cy="640080"/>
          </a:xfrm>
          <a:prstGeom prst="line">
            <a:avLst/>
          </a:prstGeom>
          <a:noFill/>
          <a:ln w="762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rot="2700000">
            <a:off x="292608" y="91440"/>
            <a:ext cx="640080" cy="640080"/>
          </a:xfrm>
          <a:prstGeom prst="line">
            <a:avLst/>
          </a:prstGeom>
          <a:noFill/>
          <a:ln w="762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2700000">
            <a:off x="493776" y="91440"/>
            <a:ext cx="640080" cy="640080"/>
          </a:xfrm>
          <a:prstGeom prst="line">
            <a:avLst/>
          </a:prstGeom>
          <a:noFill/>
          <a:ln w="762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2700000">
            <a:off x="694944" y="91440"/>
            <a:ext cx="640080" cy="640080"/>
          </a:xfrm>
          <a:prstGeom prst="line">
            <a:avLst/>
          </a:prstGeom>
          <a:noFill/>
          <a:ln w="762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0352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7784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36" name="Shape 33"/>
          <p:cNvSpPr/>
          <p:nvPr/>
        </p:nvSpPr>
        <p:spPr>
          <a:xfrm>
            <a:off x="3931920" y="2194560"/>
            <a:ext cx="48463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02336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LNA</a:t>
            </a:r>
            <a:endParaRPr lang="en-US" sz="3000" dirty="0"/>
          </a:p>
        </p:txBody>
      </p:sp>
      <p:sp>
        <p:nvSpPr>
          <p:cNvPr id="38" name="Shape 35"/>
          <p:cNvSpPr/>
          <p:nvPr/>
        </p:nvSpPr>
        <p:spPr>
          <a:xfrm>
            <a:off x="3931920" y="3520440"/>
            <a:ext cx="4846320" cy="54864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23360" y="35295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Low Noise Amplifiers in RF Systems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LNA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96012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 Noise Amplifier (LNA) amplifies very weak RF signals while adding minimum noise.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 immediately after the antenna — first active element in the RF receiver chain.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Dominates the overall system Noise Figure (Friis formula: F_total = F1 + (F2-1)/G1 + ...)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at radio and microwave frequencies (100 MHz – 100 GHz).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in: satellite communications, GPS receivers, radar, 5G base stations.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targets S-Band (2025–2110 MHz) using 0.18 µm CMOS technology.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Cascode common-source topology with inductive source degeneration selected.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Receiver Chain – Where LNA Fits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40280" y="1828800"/>
            <a:ext cx="822960" cy="640080"/>
          </a:xfrm>
          <a:prstGeom prst="rect">
            <a:avLst/>
          </a:prstGeom>
          <a:solidFill>
            <a:srgbClr val="A8D8EA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4028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Antenna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1828800"/>
            <a:ext cx="822960" cy="640080"/>
          </a:xfrm>
          <a:prstGeom prst="rect">
            <a:avLst/>
          </a:prstGeom>
          <a:solidFill>
            <a:srgbClr val="C8A8C8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0" y="1828800"/>
            <a:ext cx="822960" cy="640080"/>
          </a:xfrm>
          <a:prstGeom prst="rect">
            <a:avLst/>
          </a:prstGeom>
          <a:solidFill>
            <a:srgbClr val="90C890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1828800"/>
            <a:ext cx="822960" cy="640080"/>
          </a:xfrm>
          <a:prstGeom prst="rect">
            <a:avLst/>
          </a:prstGeom>
          <a:solidFill>
            <a:srgbClr val="C8A8C8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1828800"/>
            <a:ext cx="822960" cy="640080"/>
          </a:xfrm>
          <a:prstGeom prst="rect">
            <a:avLst/>
          </a:prstGeom>
          <a:solidFill>
            <a:srgbClr val="C8A8C8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BPF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8000" y="1828800"/>
            <a:ext cx="822960" cy="640080"/>
          </a:xfrm>
          <a:prstGeom prst="rect">
            <a:avLst/>
          </a:prstGeom>
          <a:solidFill>
            <a:srgbClr val="D4AA70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063240" y="2148840"/>
            <a:ext cx="137160" cy="0"/>
          </a:xfrm>
          <a:prstGeom prst="line">
            <a:avLst/>
          </a:prstGeom>
          <a:noFill/>
          <a:ln w="19050">
            <a:solidFill>
              <a:srgbClr val="33334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977640" y="2148840"/>
            <a:ext cx="137160" cy="0"/>
          </a:xfrm>
          <a:prstGeom prst="line">
            <a:avLst/>
          </a:prstGeom>
          <a:noFill/>
          <a:ln w="19050">
            <a:solidFill>
              <a:srgbClr val="333344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892040" y="2148840"/>
            <a:ext cx="137160" cy="0"/>
          </a:xfrm>
          <a:prstGeom prst="line">
            <a:avLst/>
          </a:prstGeom>
          <a:noFill/>
          <a:ln w="19050">
            <a:solidFill>
              <a:srgbClr val="333344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806440" y="2148840"/>
            <a:ext cx="137160" cy="0"/>
          </a:xfrm>
          <a:prstGeom prst="line">
            <a:avLst/>
          </a:prstGeom>
          <a:noFill/>
          <a:ln w="19050">
            <a:solidFill>
              <a:srgbClr val="333344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720840" y="2148840"/>
            <a:ext cx="137160" cy="0"/>
          </a:xfrm>
          <a:prstGeom prst="line">
            <a:avLst/>
          </a:prstGeom>
          <a:noFill/>
          <a:ln w="19050">
            <a:solidFill>
              <a:srgbClr val="333344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440680" y="1371600"/>
            <a:ext cx="0" cy="457200"/>
          </a:xfrm>
          <a:prstGeom prst="line">
            <a:avLst/>
          </a:prstGeom>
          <a:noFill/>
          <a:ln w="19050">
            <a:solidFill>
              <a:srgbClr val="333344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5257800" y="1097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194560" y="2606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Figure: Typical RF Receiver Chain — LNA is the first active element after BPF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194560" y="2971800"/>
            <a:ext cx="5669280" cy="137160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31720" y="303580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Friis Noise Formula:  </a:t>
            </a: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F_total = F1 + (F2−1)/G1 + (F3−1)/(G1·G2) + ...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High LNA Gain G1 suppresses noise of ALL subsequent stages.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Low LNA Noise Figure F1 directly sets receiver sensitivity.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91440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493776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94944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896112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2257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518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214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996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257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1518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02920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0352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7784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3931920" y="2194560"/>
            <a:ext cx="48463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2336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2800" dirty="0"/>
          </a:p>
        </p:txBody>
      </p:sp>
      <p:sp>
        <p:nvSpPr>
          <p:cNvPr id="34" name="Shape 31"/>
          <p:cNvSpPr/>
          <p:nvPr/>
        </p:nvSpPr>
        <p:spPr>
          <a:xfrm>
            <a:off x="3931920" y="3520440"/>
            <a:ext cx="4846320" cy="54864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023360" y="35295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for evaluating LNA design quality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Parameters of LNA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1005840"/>
            <a:ext cx="27889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94560" y="1005840"/>
            <a:ext cx="2788920" cy="34747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10058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Figure (NF)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286000" y="138988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Degradation in SNR. NF = 10·log(F). Target: ≤ 1.2 dB. Achieved: 1.51–1.74 dB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120640" y="1005840"/>
            <a:ext cx="27889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0" y="1005840"/>
            <a:ext cx="2788920" cy="34747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10058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Gain (S21)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12080" y="138988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power gain. G = 10·log(Pout/Pin). Target: ≥ 45 dB. Achieved: 53.23 dB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194560" y="2304288"/>
            <a:ext cx="27889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94560" y="2304288"/>
            <a:ext cx="2788920" cy="34747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230428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Match (S11)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2286000" y="268833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reflection. Target: ≤ −10 dB. Achieved: −42 to −5 dB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120640" y="2304288"/>
            <a:ext cx="27889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20640" y="2304288"/>
            <a:ext cx="2788920" cy="34747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230428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Match (S22)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212080" y="268833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reflection. Target: ≤ −10 dB. Achieved: −12.75 dB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194560" y="3602736"/>
            <a:ext cx="27889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4560" y="3602736"/>
            <a:ext cx="2788920" cy="34747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94560" y="360273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Rev. Isolation (S12)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286000" y="398678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Output→Input leakage. Target: ≤ −30 dB. Achieved: &lt; −48 dB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120640" y="3602736"/>
            <a:ext cx="27889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3602736"/>
            <a:ext cx="2788920" cy="34747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0640" y="360273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(K-factor)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212080" y="398678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Unconditional stability: K &gt; 1 and |Δ| &lt; 1 at all frequencies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91440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493776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94944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896112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2257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518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214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996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257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1518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02920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0352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7784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3931920" y="2194560"/>
            <a:ext cx="48463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2336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LNA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Topologies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3931920" y="3520440"/>
            <a:ext cx="4846320" cy="54864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023360" y="35295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Cascode CS with Inductive Source Degeneration — selected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LNA Topology Comparison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960120"/>
          <a:ext cx="6355080" cy="3200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 Degen.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Induct. Degen.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Cascode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Noise Figure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Match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Difficult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Good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2194560" y="4251960"/>
            <a:ext cx="5669280" cy="457200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Selected: Cascode CS + Inductive Source Degeneration for maximum gain, isolation &amp; low NF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91440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493776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94944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896112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2257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518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214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996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257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1518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02920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0352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7784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3931920" y="2194560"/>
            <a:ext cx="48463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2336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3931920" y="3520440"/>
            <a:ext cx="4846320" cy="54864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023360" y="35295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design, component values &amp; Cadence schematic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220863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Parameters of Proposed LNA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65760" y="787791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622211"/>
              </p:ext>
            </p:extLst>
          </p:nvPr>
        </p:nvGraphicFramePr>
        <p:xfrm>
          <a:off x="777240" y="907917"/>
          <a:ext cx="3291840" cy="4069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M1, M2 (W/L)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 µm / 0.18 µm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Bias (W/L)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 µm / 0.18 µm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Gate Inductor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 nH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Source Inductor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pH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Tank Inductor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nH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Input Cap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pF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Tank Cap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 / R2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kΩ / 10 kΩ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Vbias / VDD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 V / 1.8 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 µm CMOS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2025–2110 MHz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5669280" y="19202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577840" y="4224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4C5FA66-7AAA-A1B6-0070-915838B12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866" y="921985"/>
            <a:ext cx="36118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Equations &amp; Matching Networks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1005840"/>
            <a:ext cx="2788920" cy="25603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94560" y="1005840"/>
            <a:ext cx="2788920" cy="384048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10058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Matching Network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286000" y="1463040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6B"/>
                </a:solidFill>
              </a:rPr>
              <a:t>Re(Zin) = ωT · Ls
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ωT = gm / Cgs
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Ls = 600 pH  →  Re(Zin) = 50 Ω
</a:t>
            </a:r>
            <a:endParaRPr lang="en-US" sz="1250" dirty="0"/>
          </a:p>
          <a:p>
            <a:pPr marL="0" indent="0">
              <a:buNone/>
            </a:pPr>
            <a:r>
              <a:rPr lang="en-US" sz="1200" b="1" dirty="0">
                <a:solidFill>
                  <a:srgbClr val="3D3D6B"/>
                </a:solidFill>
              </a:rPr>
              <a:t>fo = 1/(2π·√[(Lg+Ls)·Cgs])
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Lg = 7.8 nH  →  fo = S-Band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120640" y="1005840"/>
            <a:ext cx="2788920" cy="25603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0" y="1005840"/>
            <a:ext cx="2788920" cy="384048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10058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Tank Network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1463040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6B"/>
                </a:solidFill>
              </a:rPr>
              <a:t>f_tank = 1/(2π·√[L3·C2])
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L3 = 2.5 nH,  C2 = 2 pF
</a:t>
            </a:r>
            <a:endParaRPr lang="en-US" sz="1250" dirty="0"/>
          </a:p>
          <a:p>
            <a:pPr marL="0" indent="0">
              <a:buNone/>
            </a:pPr>
            <a:r>
              <a:rPr lang="en-US" sz="1300" b="1" dirty="0">
                <a:solidFill>
                  <a:srgbClr val="2D7A3A"/>
                </a:solidFill>
              </a:rPr>
              <a:t>f_tank ≈ 2.06 GHz  ✓
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Tank → max Z at resonance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→ max voltage swing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→ max power gain (S21)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2194560" y="3703320"/>
            <a:ext cx="5669280" cy="100584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3749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Bias:  </a:t>
            </a: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mirror — M3 (70µm/0.18µm), Vbias=0.6V, R1=1kΩ, R2=10kΩ divider. M2 gate at VDD=1.8V. Technology: 0.18 µm CMOS. Chip area: 0.637 × 0.402 mm².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1102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Schematic – Proposed LNA Circuit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960120"/>
            <a:ext cx="5669280" cy="3566160"/>
          </a:xfrm>
          <a:prstGeom prst="rect">
            <a:avLst/>
          </a:prstGeom>
          <a:solidFill>
            <a:srgbClr val="E4E8F2"/>
          </a:solidFill>
          <a:ln w="25400">
            <a:solidFill>
              <a:srgbClr val="3D3D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182880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194560" y="459028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1: Cadence Virtuoso Schematic of Proposed S-Band LNA (0.18 µm CMOS)</a:t>
            </a: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282BE68-2F7F-0EAD-299D-2E00797AC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697" y="973835"/>
            <a:ext cx="5697675" cy="35387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91440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493776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94944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896112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2257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518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214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996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257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1518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02920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0352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7784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3931920" y="2194560"/>
            <a:ext cx="48463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2336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3931920" y="3520440"/>
            <a:ext cx="4846320" cy="54864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023360" y="35295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Pre-layout &amp; post-layout performance metrics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D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56836-D63F-09C0-1098-4B0C287BC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A36C6B-9A99-56ED-BEE2-72A60EA455E4}"/>
              </a:ext>
            </a:extLst>
          </p:cNvPr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5B75E1-18B1-6C90-F475-6DA271432BB2}"/>
              </a:ext>
            </a:extLst>
          </p:cNvPr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5A97D80-56AA-40E3-D1E9-C350FA6C6059}"/>
              </a:ext>
            </a:extLst>
          </p:cNvPr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C449A9-149F-9704-F2BF-EBBE5624BD2B}"/>
              </a:ext>
            </a:extLst>
          </p:cNvPr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B9DF86B-9438-94C1-8D6D-228CF92C7736}"/>
              </a:ext>
            </a:extLst>
          </p:cNvPr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C4EF739-C4C6-030A-EF45-8964B42F901F}"/>
              </a:ext>
            </a:extLst>
          </p:cNvPr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183CC6C-B5B2-1FC0-0514-BB28F68266F9}"/>
              </a:ext>
            </a:extLst>
          </p:cNvPr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EBA488C-7E20-6378-ED36-DCD19D42E156}"/>
              </a:ext>
            </a:extLst>
          </p:cNvPr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3D3F436-62C7-4181-3267-95CC438A89E7}"/>
              </a:ext>
            </a:extLst>
          </p:cNvPr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B077B2A-7979-FF47-7539-F165A71EDFE1}"/>
              </a:ext>
            </a:extLst>
          </p:cNvPr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3FDAC99-5A21-7745-A415-99F854CB16F7}"/>
              </a:ext>
            </a:extLst>
          </p:cNvPr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7754EEB-6084-60D3-0562-DF0A0BB5746F}"/>
              </a:ext>
            </a:extLst>
          </p:cNvPr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0F73A2B-7443-D215-0A88-CA81913106C1}"/>
              </a:ext>
            </a:extLst>
          </p:cNvPr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C922B3E-5BCF-3FFA-143F-635311C2EA08}"/>
              </a:ext>
            </a:extLst>
          </p:cNvPr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AF3C714-0A25-FBD2-22E6-AC9F80D82E11}"/>
              </a:ext>
            </a:extLst>
          </p:cNvPr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99FFDDA-37C6-EC45-676F-0651B017EDDF}"/>
              </a:ext>
            </a:extLst>
          </p:cNvPr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923083D-1BAE-2BE0-C278-BABB0A6B6C15}"/>
              </a:ext>
            </a:extLst>
          </p:cNvPr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74FE49D-E79C-771D-EB14-53E64809DC60}"/>
              </a:ext>
            </a:extLst>
          </p:cNvPr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8C79004-07B7-E5EC-BD1B-C4B529A22506}"/>
              </a:ext>
            </a:extLst>
          </p:cNvPr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6C3F991-3503-A601-150C-07B728CBEDC3}"/>
              </a:ext>
            </a:extLst>
          </p:cNvPr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817E98C-E6F8-E587-70FD-2D521B9C9869}"/>
              </a:ext>
            </a:extLst>
          </p:cNvPr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158C697-8055-9216-CB1A-8B39C2317C90}"/>
              </a:ext>
            </a:extLst>
          </p:cNvPr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6B8E018-BA90-8D69-57B9-088075CBCC8F}"/>
              </a:ext>
            </a:extLst>
          </p:cNvPr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F264DBD-AA87-D7F5-CCCF-B43FCD954837}"/>
              </a:ext>
            </a:extLst>
          </p:cNvPr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0E1B99A-63C4-E9BC-A951-A649A642351D}"/>
              </a:ext>
            </a:extLst>
          </p:cNvPr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6ED9449-F8B2-57E3-C606-3AE1ED13D068}"/>
              </a:ext>
            </a:extLst>
          </p:cNvPr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0F2BF91-EA9F-F099-E0F2-8BC5824FD5F6}"/>
              </a:ext>
            </a:extLst>
          </p:cNvPr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D0F075E-6129-413F-C8D2-D20EC8943144}"/>
              </a:ext>
            </a:extLst>
          </p:cNvPr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A3FD2B5-F998-38E9-A8F0-76B29792B16A}"/>
              </a:ext>
            </a:extLst>
          </p:cNvPr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73F646B-7A2A-5780-F617-F256AA5B3729}"/>
              </a:ext>
            </a:extLst>
          </p:cNvPr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C54BDDF-3F66-A813-7290-5C04C3F86452}"/>
              </a:ext>
            </a:extLst>
          </p:cNvPr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9791FC1-C530-0DA5-5C13-C47070FE84C9}"/>
              </a:ext>
            </a:extLst>
          </p:cNvPr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6466828-3DF6-19F6-A4EC-01BC680726F4}"/>
              </a:ext>
            </a:extLst>
          </p:cNvPr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BDABD2C-93DD-90D5-E6E5-FA343CD1E707}"/>
              </a:ext>
            </a:extLst>
          </p:cNvPr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Results – Key Metrics</a:t>
            </a:r>
            <a:endParaRPr lang="en-US" sz="22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9907CD2-EEBF-E1D5-31A4-E3C00325B660}"/>
              </a:ext>
            </a:extLst>
          </p:cNvPr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47E9101-377B-2491-2829-CEC2A588F62A}"/>
              </a:ext>
            </a:extLst>
          </p:cNvPr>
          <p:cNvSpPr/>
          <p:nvPr/>
        </p:nvSpPr>
        <p:spPr>
          <a:xfrm>
            <a:off x="2194560" y="2496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FB1C638-C8DC-171D-999C-EC3538DB287F}"/>
              </a:ext>
            </a:extLst>
          </p:cNvPr>
          <p:cNvSpPr/>
          <p:nvPr/>
        </p:nvSpPr>
        <p:spPr>
          <a:xfrm>
            <a:off x="6035040" y="13533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197416BD-6875-615B-47ED-32DA59F74070}"/>
              </a:ext>
            </a:extLst>
          </p:cNvPr>
          <p:cNvSpPr/>
          <p:nvPr/>
        </p:nvSpPr>
        <p:spPr>
          <a:xfrm>
            <a:off x="2194560" y="2999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C4F0B7F0-0B96-E876-6175-8BC79087EE62}"/>
              </a:ext>
            </a:extLst>
          </p:cNvPr>
          <p:cNvSpPr/>
          <p:nvPr/>
        </p:nvSpPr>
        <p:spPr>
          <a:xfrm>
            <a:off x="2194560" y="33649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9F4291C4-E153-8101-2E09-CAC7FF5A0AA2}"/>
              </a:ext>
            </a:extLst>
          </p:cNvPr>
          <p:cNvSpPr/>
          <p:nvPr/>
        </p:nvSpPr>
        <p:spPr>
          <a:xfrm>
            <a:off x="2194560" y="40050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D72BA370-0218-DC26-F78F-28E6ABFBCF9E}"/>
              </a:ext>
            </a:extLst>
          </p:cNvPr>
          <p:cNvSpPr/>
          <p:nvPr/>
        </p:nvSpPr>
        <p:spPr>
          <a:xfrm>
            <a:off x="2194560" y="4507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978C78A-19C5-6804-3C0A-6533A29FA881}"/>
              </a:ext>
            </a:extLst>
          </p:cNvPr>
          <p:cNvSpPr/>
          <p:nvPr/>
        </p:nvSpPr>
        <p:spPr>
          <a:xfrm>
            <a:off x="4114800" y="4507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4DE4A28F-E36A-6BAB-6637-0A1458A963F7}"/>
              </a:ext>
            </a:extLst>
          </p:cNvPr>
          <p:cNvSpPr/>
          <p:nvPr/>
        </p:nvSpPr>
        <p:spPr>
          <a:xfrm>
            <a:off x="6035040" y="4507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7B24AA78-115C-F51E-C09E-D1AAD45AC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372" y="1000700"/>
            <a:ext cx="2557526" cy="1381312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E779ED2-CBA1-5EB4-5235-3936C01CF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166" y="1000700"/>
            <a:ext cx="2629937" cy="1395608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D7FFF6B7-5776-A03B-FEC4-E62C88C2BF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8"/>
          <a:stretch>
            <a:fillRect/>
          </a:stretch>
        </p:blipFill>
        <p:spPr>
          <a:xfrm>
            <a:off x="2172372" y="2779777"/>
            <a:ext cx="2557526" cy="1444749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E783F7D4-D9E9-B31A-0EA3-97C8024DAA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4449" y="2770632"/>
            <a:ext cx="2629937" cy="145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28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Results – Key Metrics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987552"/>
            <a:ext cx="1783080" cy="1828800"/>
          </a:xfrm>
          <a:prstGeom prst="rect">
            <a:avLst/>
          </a:prstGeom>
          <a:solidFill>
            <a:srgbClr val="D4EDDA"/>
          </a:solidFill>
          <a:ln w="12700">
            <a:solidFill>
              <a:srgbClr val="1557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94560" y="987552"/>
            <a:ext cx="1783080" cy="32004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9875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 Peak Gain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94560" y="13533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53.23 dB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194560" y="19933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Exceeds 45 dB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94560" y="2496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S-Band 2025–2110 MHz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14800" y="987552"/>
            <a:ext cx="1783080" cy="1828800"/>
          </a:xfrm>
          <a:prstGeom prst="rect">
            <a:avLst/>
          </a:prstGeom>
          <a:solidFill>
            <a:srgbClr val="FFF3CD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0" y="987552"/>
            <a:ext cx="1783080" cy="32004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9875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Figure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114800" y="13533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1.51–1.74 dB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114800" y="19933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Near Target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0" y="2496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S-Band 2025–2110 MHz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35040" y="987552"/>
            <a:ext cx="1783080" cy="1828800"/>
          </a:xfrm>
          <a:prstGeom prst="rect">
            <a:avLst/>
          </a:prstGeom>
          <a:solidFill>
            <a:srgbClr val="D4EDDA"/>
          </a:solidFill>
          <a:ln w="12700">
            <a:solidFill>
              <a:srgbClr val="15572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0" y="987552"/>
            <a:ext cx="1783080" cy="32004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9875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Input Match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035040" y="13533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−42 to −5 dB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035040" y="19933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≤ −10 dB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035040" y="2496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S-Band 2025–2110 MHz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194560" y="2999232"/>
            <a:ext cx="1783080" cy="1828800"/>
          </a:xfrm>
          <a:prstGeom prst="rect">
            <a:avLst/>
          </a:prstGeom>
          <a:solidFill>
            <a:srgbClr val="D4EDDA"/>
          </a:solidFill>
          <a:ln w="12700">
            <a:solidFill>
              <a:srgbClr val="15572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94560" y="2999232"/>
            <a:ext cx="1783080" cy="32004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94560" y="2999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 Output Match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194560" y="33649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−12.75 dB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194560" y="40050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≤ −10 dB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194560" y="4507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S-Band 2025–2110 MHz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14800" y="2999232"/>
            <a:ext cx="1783080" cy="1828800"/>
          </a:xfrm>
          <a:prstGeom prst="rect">
            <a:avLst/>
          </a:prstGeom>
          <a:solidFill>
            <a:srgbClr val="D4EDDA"/>
          </a:solidFill>
          <a:ln w="12700">
            <a:solidFill>
              <a:srgbClr val="15572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0" y="2999232"/>
            <a:ext cx="1783080" cy="32004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0" y="2999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 Isolation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114800" y="33649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−48 dB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4114800" y="40050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Exceeds −30 dB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114800" y="4507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S-Band 2025–2110 MHz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035040" y="2999232"/>
            <a:ext cx="1783080" cy="1828800"/>
          </a:xfrm>
          <a:prstGeom prst="rect">
            <a:avLst/>
          </a:prstGeom>
          <a:solidFill>
            <a:srgbClr val="D4EDDA"/>
          </a:solidFill>
          <a:ln w="12700">
            <a:solidFill>
              <a:srgbClr val="15572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35040" y="2999232"/>
            <a:ext cx="1783080" cy="32004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35040" y="2999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Area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035040" y="33649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0.637×0.402 mm²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035040" y="40050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Compact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035040" y="4507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S-Band 2025–2110 MHz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Summary Table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960120"/>
          <a:ext cx="6035040" cy="4023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Pre-Layout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Post-Layout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 Band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2025–2110 MHz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2025–2110 MHz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2025–2110 MHz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S21 Gain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45 dB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53.23 dB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 dB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Noise Figure (NF)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1.2 dB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1.51–1.74 dB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~1.6–1.9 dB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S11 Input Match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−10 dB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−42 to −5 dB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−10 dB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S22 Output Match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−10 dB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−12.75 dB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−10 dB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S12 Isolation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−30 dB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−48 dB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57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−45 dB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Chip Area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Miniaturized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0.637×0.402 mm²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0.637×0.402 mm²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 µm CMOS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 µm CMOS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 µm CMOS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&amp; Limitations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960120"/>
            <a:ext cx="2651760" cy="38404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94560" y="1417320"/>
            <a:ext cx="265176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✔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gain (53.23 dB) – suppresses downstream noise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✔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reverse isolation (&lt; −48 dB)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✔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Noiseless 50 Ω input matching (inductive degeneration)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✔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0.637×0.402 mm² — satellite payload ready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✔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CMOS — co-integrable with digital circuits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✔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across all process corners (TT/FF/SS/FS/SF)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0" y="960120"/>
            <a:ext cx="2880360" cy="38404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9601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0" y="1417320"/>
            <a:ext cx="288036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✘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 1.51–1.74 dB slightly above ≤1.2 dB target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✘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Narrowband — LC tank limits to S-band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✘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On-chip inductors dominate area, limit Q-factor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✘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IIP3/P1dB linearity not yet fully characterized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✘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fabrication and testing still pending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✘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Post-layout parasitic effects reduce gain/NF slightly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D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D3800-7DCE-8697-D437-67079363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A01860-66A5-C452-8CEA-E573EABC9E14}"/>
              </a:ext>
            </a:extLst>
          </p:cNvPr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D32772-6064-5806-671D-971291470A94}"/>
              </a:ext>
            </a:extLst>
          </p:cNvPr>
          <p:cNvSpPr/>
          <p:nvPr/>
        </p:nvSpPr>
        <p:spPr>
          <a:xfrm>
            <a:off x="8046720" y="14068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77B2B6-7F17-0541-D8FC-BBF523683B37}"/>
              </a:ext>
            </a:extLst>
          </p:cNvPr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C19ABC-CD10-9D01-EAF6-C96CAFB0350D}"/>
              </a:ext>
            </a:extLst>
          </p:cNvPr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B471C98-F237-C21D-92C1-4972ECF6044F}"/>
              </a:ext>
            </a:extLst>
          </p:cNvPr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0348F6-8B94-883E-5809-755684A84E54}"/>
              </a:ext>
            </a:extLst>
          </p:cNvPr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8B65E0E-3A2F-02C8-0763-A48933F5EC45}"/>
              </a:ext>
            </a:extLst>
          </p:cNvPr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94D1796-83A4-F721-6F8B-403969EA0CF4}"/>
              </a:ext>
            </a:extLst>
          </p:cNvPr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2125858-71B7-8372-4BCC-B855D471ECB9}"/>
              </a:ext>
            </a:extLst>
          </p:cNvPr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C94DC90-00DE-A743-4935-C95FE4713DA9}"/>
              </a:ext>
            </a:extLst>
          </p:cNvPr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0DB61CE-FF83-389D-ED08-ADDB348E490A}"/>
              </a:ext>
            </a:extLst>
          </p:cNvPr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E9B7C74-27CF-86E6-05E5-330ED3C1E259}"/>
              </a:ext>
            </a:extLst>
          </p:cNvPr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032CDD9-C437-3499-C3C2-68E0E040DAFD}"/>
              </a:ext>
            </a:extLst>
          </p:cNvPr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11DBA53-8245-C9C1-D00B-7F06ED40388B}"/>
              </a:ext>
            </a:extLst>
          </p:cNvPr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027A7C0-E7FB-4297-349B-CE4459B0E92A}"/>
              </a:ext>
            </a:extLst>
          </p:cNvPr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1AEE439-AB43-0EF4-12C5-5411FC43C3CC}"/>
              </a:ext>
            </a:extLst>
          </p:cNvPr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06A5CA2-0C84-F2F1-0B46-411F970C2825}"/>
              </a:ext>
            </a:extLst>
          </p:cNvPr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D89BD88-D3FB-7E5E-FECD-62646581B8BD}"/>
              </a:ext>
            </a:extLst>
          </p:cNvPr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41F2659-6958-36DF-A2C1-470EFF3462D7}"/>
              </a:ext>
            </a:extLst>
          </p:cNvPr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D80C936-4777-23C7-4399-7D0994919F92}"/>
              </a:ext>
            </a:extLst>
          </p:cNvPr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CE8DA31-78C6-9FA2-3AB4-D13D4D2FA5A2}"/>
              </a:ext>
            </a:extLst>
          </p:cNvPr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8995D02-CCAE-E265-1D69-FD05BF5713FF}"/>
              </a:ext>
            </a:extLst>
          </p:cNvPr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08FDCCC-7344-8BDB-E796-89A73C7432A8}"/>
              </a:ext>
            </a:extLst>
          </p:cNvPr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C574FBA-E44D-5C24-3B96-D2195E4CC9E1}"/>
              </a:ext>
            </a:extLst>
          </p:cNvPr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F9025D0-1D45-8B3D-3C02-B1894D845AFA}"/>
              </a:ext>
            </a:extLst>
          </p:cNvPr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6602D58-667F-0E6E-13D5-86C965057393}"/>
              </a:ext>
            </a:extLst>
          </p:cNvPr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D5896C2-5BC7-F166-93A3-EEE9DE1B36B0}"/>
              </a:ext>
            </a:extLst>
          </p:cNvPr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C3E2E98-CA53-CD45-39C5-4411EF211824}"/>
              </a:ext>
            </a:extLst>
          </p:cNvPr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8C02126-DA74-6A15-5EA1-ABCB4814E005}"/>
              </a:ext>
            </a:extLst>
          </p:cNvPr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3A69D73-FF42-9B26-A8FF-DB1E3AE091B6}"/>
              </a:ext>
            </a:extLst>
          </p:cNvPr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B0468E2-460A-5950-8B27-C75FE24FB44A}"/>
              </a:ext>
            </a:extLst>
          </p:cNvPr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8F0A1B8-E0C3-F481-F7AD-B73AFA2484A2}"/>
              </a:ext>
            </a:extLst>
          </p:cNvPr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310C291-52BD-C886-F3CB-58DF3D51D2CD}"/>
              </a:ext>
            </a:extLst>
          </p:cNvPr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72E4D28-FF11-2A41-7976-9F598B0FE213}"/>
              </a:ext>
            </a:extLst>
          </p:cNvPr>
          <p:cNvSpPr/>
          <p:nvPr/>
        </p:nvSpPr>
        <p:spPr>
          <a:xfrm>
            <a:off x="343572" y="334383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cs typeface="Arial" pitchFamily="34" charset="-120"/>
              </a:rPr>
              <a:t>Post Layout Simulation</a:t>
            </a:r>
            <a:endParaRPr lang="en-US" sz="22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6A7B63E-579C-72C7-F36C-F84CED5CE46C}"/>
              </a:ext>
            </a:extLst>
          </p:cNvPr>
          <p:cNvSpPr/>
          <p:nvPr/>
        </p:nvSpPr>
        <p:spPr>
          <a:xfrm>
            <a:off x="343572" y="801858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DDFDB29-AB17-12EA-88E0-9C11D28FAED5}"/>
              </a:ext>
            </a:extLst>
          </p:cNvPr>
          <p:cNvSpPr/>
          <p:nvPr/>
        </p:nvSpPr>
        <p:spPr>
          <a:xfrm>
            <a:off x="219456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endParaRPr lang="en-US" sz="1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endParaRPr lang="en-US" sz="1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692A7540-8046-7431-C5C3-2AD983FF67E6}"/>
              </a:ext>
            </a:extLst>
          </p:cNvPr>
          <p:cNvSpPr/>
          <p:nvPr/>
        </p:nvSpPr>
        <p:spPr>
          <a:xfrm>
            <a:off x="5029200" y="9601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16E9AF9-5F0C-820F-A06A-4766D2D31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72" y="986424"/>
            <a:ext cx="7509574" cy="365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71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91440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493776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94944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896112" y="91440"/>
            <a:ext cx="640080" cy="640080"/>
          </a:xfrm>
          <a:prstGeom prst="line">
            <a:avLst/>
          </a:prstGeom>
          <a:noFill/>
          <a:ln w="10160">
            <a:solidFill>
              <a:srgbClr val="667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22576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5184" y="4736592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214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9968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2576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15184" y="491032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02920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0352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7784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319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3931920" y="2194560"/>
            <a:ext cx="4846320" cy="118872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2336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34" name="Shape 31"/>
          <p:cNvSpPr/>
          <p:nvPr/>
        </p:nvSpPr>
        <p:spPr>
          <a:xfrm>
            <a:off x="3931920" y="3520440"/>
            <a:ext cx="4846320" cy="54864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023360" y="35295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96012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 cascode CS LNA with inductive source degeneration in 0.18 µm CMOS for S-Band (2025–2110 MHz).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S21 = 53.23 dB — exceeds 45 dB target. Excellent reverse isolation S12 &lt; −48 dB.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Figure 1.51–1.74 dB across S-Band (minimum 1.25 dB at 1.6–1.7 GHz).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match S11 ≤ −10 dB at band centre. Output match S22 = −12.75 dB.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chip area 0.637 × 0.402 mm² — suitable for satellite payload integration.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completed. Post-layout simulation confirms design integrity under parasitics.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process corners (TT/FF/SS/FS/SF) pass, confirming manufacturing robustness.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5720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46888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48056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9224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850392" y="45720"/>
            <a:ext cx="731520" cy="731520"/>
          </a:xfrm>
          <a:prstGeom prst="line">
            <a:avLst/>
          </a:prstGeom>
          <a:noFill/>
          <a:ln w="762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809244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13816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18388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22960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275320" y="4114800"/>
            <a:ext cx="548640" cy="548640"/>
          </a:xfrm>
          <a:prstGeom prst="line">
            <a:avLst/>
          </a:prstGeom>
          <a:noFill/>
          <a:ln w="7620">
            <a:solidFill>
              <a:srgbClr val="888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6526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7733" y="164592"/>
            <a:ext cx="146304" cy="146304"/>
          </a:xfrm>
          <a:prstGeom prst="ellipse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1645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194560" y="777240"/>
            <a:ext cx="5303520" cy="0"/>
          </a:xfrm>
          <a:prstGeom prst="line">
            <a:avLst/>
          </a:prstGeom>
          <a:noFill/>
          <a:ln w="15240">
            <a:solidFill>
              <a:srgbClr val="3D3D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987552"/>
            <a:ext cx="2788920" cy="123444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1335024"/>
            <a:ext cx="438912" cy="43891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48" dirty="0"/>
          </a:p>
        </p:txBody>
      </p:sp>
      <p:sp>
        <p:nvSpPr>
          <p:cNvPr id="40" name="Text 38"/>
          <p:cNvSpPr/>
          <p:nvPr/>
        </p:nvSpPr>
        <p:spPr>
          <a:xfrm>
            <a:off x="2834640" y="10607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 (MPW)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34640" y="1463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for Multi-Project Wafer run; on-wafer RF testing with VNA.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987552"/>
            <a:ext cx="2788920" cy="123444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12080" y="1335024"/>
            <a:ext cx="438912" cy="43891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0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48" dirty="0"/>
          </a:p>
        </p:txBody>
      </p:sp>
      <p:sp>
        <p:nvSpPr>
          <p:cNvPr id="45" name="Text 43"/>
          <p:cNvSpPr/>
          <p:nvPr/>
        </p:nvSpPr>
        <p:spPr>
          <a:xfrm>
            <a:off x="5760720" y="10607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 Optimization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760720" y="1463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spiral inductor Q; target NF ≤ 1.2 dB.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94560" y="987552"/>
            <a:ext cx="2788920" cy="123444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0" y="1335024"/>
            <a:ext cx="438912" cy="43891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0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48" dirty="0"/>
          </a:p>
        </p:txBody>
      </p:sp>
      <p:sp>
        <p:nvSpPr>
          <p:cNvPr id="50" name="Text 48"/>
          <p:cNvSpPr/>
          <p:nvPr/>
        </p:nvSpPr>
        <p:spPr>
          <a:xfrm>
            <a:off x="2834640" y="10607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Linearity Testing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834640" y="1463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IIP3 and P1dB characterization in simulation &amp; silicon.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20640" y="2313432"/>
            <a:ext cx="2788920" cy="123444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12080" y="2660904"/>
            <a:ext cx="438912" cy="43891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48" dirty="0"/>
          </a:p>
        </p:txBody>
      </p:sp>
      <p:sp>
        <p:nvSpPr>
          <p:cNvPr id="55" name="Text 53"/>
          <p:cNvSpPr/>
          <p:nvPr/>
        </p:nvSpPr>
        <p:spPr>
          <a:xfrm>
            <a:off x="5760720" y="238658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Wideband LNA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760720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S-Band (2–4 GHz) using noise-cancelling topology.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194560" y="2313432"/>
            <a:ext cx="2788920" cy="123444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0" y="2660904"/>
            <a:ext cx="438912" cy="43891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48" dirty="0"/>
          </a:p>
        </p:txBody>
      </p:sp>
      <p:sp>
        <p:nvSpPr>
          <p:cNvPr id="60" name="Text 58"/>
          <p:cNvSpPr/>
          <p:nvPr/>
        </p:nvSpPr>
        <p:spPr>
          <a:xfrm>
            <a:off x="2834640" y="238658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Front-End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834640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LNA + Mixer + VCO into complete RF receiver.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120640" y="2313432"/>
            <a:ext cx="2788920" cy="123444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12080" y="2660904"/>
            <a:ext cx="438912" cy="438912"/>
          </a:xfrm>
          <a:prstGeom prst="rect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1208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48" dirty="0"/>
          </a:p>
        </p:txBody>
      </p:sp>
      <p:sp>
        <p:nvSpPr>
          <p:cNvPr id="65" name="Text 63"/>
          <p:cNvSpPr/>
          <p:nvPr/>
        </p:nvSpPr>
        <p:spPr>
          <a:xfrm>
            <a:off x="5760720" y="238658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 µm Migration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760720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to finer process for higher fT, lower NF, smaller area.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4572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2860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41148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59436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77724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960120" y="45720"/>
            <a:ext cx="822960" cy="822960"/>
          </a:xfrm>
          <a:prstGeom prst="line">
            <a:avLst/>
          </a:prstGeom>
          <a:noFill/>
          <a:ln w="8890">
            <a:solidFill>
              <a:srgbClr val="AA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629400" y="4114800"/>
            <a:ext cx="640080" cy="640080"/>
          </a:xfrm>
          <a:prstGeom prst="line">
            <a:avLst/>
          </a:prstGeom>
          <a:noFill/>
          <a:ln w="8890">
            <a:solidFill>
              <a:srgbClr val="667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812280" y="4114800"/>
            <a:ext cx="640080" cy="640080"/>
          </a:xfrm>
          <a:prstGeom prst="line">
            <a:avLst/>
          </a:prstGeom>
          <a:noFill/>
          <a:ln w="8890">
            <a:solidFill>
              <a:srgbClr val="667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6995160" y="4114800"/>
            <a:ext cx="640080" cy="640080"/>
          </a:xfrm>
          <a:prstGeom prst="line">
            <a:avLst/>
          </a:prstGeom>
          <a:noFill/>
          <a:ln w="8890">
            <a:solidFill>
              <a:srgbClr val="667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7178040" y="4114800"/>
            <a:ext cx="640080" cy="640080"/>
          </a:xfrm>
          <a:prstGeom prst="line">
            <a:avLst/>
          </a:prstGeom>
          <a:noFill/>
          <a:ln w="8890">
            <a:solidFill>
              <a:srgbClr val="667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7360920" y="4114800"/>
            <a:ext cx="640080" cy="640080"/>
          </a:xfrm>
          <a:prstGeom prst="line">
            <a:avLst/>
          </a:prstGeom>
          <a:noFill/>
          <a:ln w="8890">
            <a:solidFill>
              <a:srgbClr val="667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01168"/>
            <a:ext cx="182880" cy="182880"/>
          </a:xfrm>
          <a:prstGeom prst="ellipse">
            <a:avLst/>
          </a:prstGeom>
          <a:solidFill>
            <a:srgbClr val="3D3D6B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1371600"/>
            <a:ext cx="82296" cy="82296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59952" y="1371600"/>
            <a:ext cx="82296" cy="82296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24544" y="1371600"/>
            <a:ext cx="82296" cy="82296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536192"/>
            <a:ext cx="82296" cy="82296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9952" y="1536192"/>
            <a:ext cx="82296" cy="82296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24544" y="1536192"/>
            <a:ext cx="82296" cy="82296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1700784"/>
            <a:ext cx="82296" cy="82296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59952" y="1700784"/>
            <a:ext cx="82296" cy="82296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24544" y="1700784"/>
            <a:ext cx="82296" cy="82296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1005840"/>
            <a:ext cx="4480560" cy="2011680"/>
          </a:xfrm>
          <a:prstGeom prst="rect">
            <a:avLst/>
          </a:prstGeom>
          <a:solidFill>
            <a:srgbClr val="D4DAE4"/>
          </a:solidFill>
          <a:ln w="15240">
            <a:solidFill>
              <a:srgbClr val="3D3D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20240" y="10058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29" name="Shape 27"/>
          <p:cNvSpPr/>
          <p:nvPr/>
        </p:nvSpPr>
        <p:spPr>
          <a:xfrm>
            <a:off x="1920240" y="3090672"/>
            <a:ext cx="4480560" cy="566928"/>
          </a:xfrm>
          <a:prstGeom prst="rect">
            <a:avLst/>
          </a:prstGeom>
          <a:solidFill>
            <a:srgbClr val="545468"/>
          </a:solidFill>
          <a:ln w="12700">
            <a:solidFill>
              <a:srgbClr val="5454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310896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Realization of Miniaturized LNA for S-Band RF Communication | ECE Final Year Project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37490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Technology: 0.18 µm CMOS  |  Frequency: 2025–2110 MHz  |  Topology: Cascode CS + Inductive Source Degeneration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04288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96896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9504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82112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0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67328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59936" y="4773168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168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04288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96896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89504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82112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0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67328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59936" y="4937760"/>
            <a:ext cx="73152" cy="73152"/>
          </a:xfrm>
          <a:prstGeom prst="ellipse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1423</Words>
  <Application>Microsoft Office PowerPoint</Application>
  <PresentationFormat>On-screen Show (16:9)</PresentationFormat>
  <Paragraphs>310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Digambar Singh</cp:lastModifiedBy>
  <cp:revision>5</cp:revision>
  <dcterms:created xsi:type="dcterms:W3CDTF">2026-04-29T04:58:39Z</dcterms:created>
  <dcterms:modified xsi:type="dcterms:W3CDTF">2026-04-29T06:04:17Z</dcterms:modified>
</cp:coreProperties>
</file>